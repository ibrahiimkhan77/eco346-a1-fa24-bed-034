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0021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variant: 034 = 4 x 8 + 2, so variant 2, Sindh rural. Person file joined to household file by hhid to get weight, province and area. Sample sizes are from my script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 scale because spending is right-skewed. Median and p90 use all 1,440 students; the histogram drops 1 student outside Rs 100 to Rs 1,000,000. Weighted median slightly above unweighted.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ggplot(data, aes(age, literate)) + geom_point(), committed before the redesign. Right: Question 3 figure. The default shows individual ages; the redesign hides them by pooling into bands.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important finding. The 30-34 spike is a single band, not a trend. Smallest cell n = 77.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Schooling costs and literacy in rural Sindh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</a:rPr>
              <a:t>ECO346 Assignment 1  |  FA24-BED-034  |  Variant 2 (34 = 4 × 8 + 2): Sindh, rural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1F4468"/>
          </a:solidFill>
          <a:ln w="12700">
            <a:solidFill>
              <a:srgbClr val="1F446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4231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10,960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00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persons in variant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228600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1F4468"/>
          </a:solidFill>
          <a:ln w="12700">
            <a:solidFill>
              <a:srgbClr val="1F446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24231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7,171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3200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literacy sample, ages 10-64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228600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1F4468"/>
          </a:solidFill>
          <a:ln w="12700">
            <a:solidFill>
              <a:srgbClr val="1F44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24231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1,440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3200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students (ed_total &gt; 0)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6CF"/>
                </a:solidFill>
              </a:rPr>
              <a:t>Data: PSLM 2019-20 person and household files. Every statistic is weighted by hhweight.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of students cost Rs 4,500 or less a year</a:t>
            </a:r>
            <a:endParaRPr lang="en-US" sz="3000" dirty="0"/>
          </a:p>
        </p:txBody>
      </p:sp>
      <p:pic>
        <p:nvPicPr>
          <p:cNvPr id="3" name="Image 0" descr="Weighted histogram of annual education spending per student on a log scale, with median Rs 4,500 and 90th percentile Rs 15,5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5486400" cy="328726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17920" y="105156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355080" y="1097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4,500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6355080" y="1508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7BA6"/>
                </a:solidFill>
              </a:rPr>
              <a:t>weighted median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1737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866"/>
                </a:solidFill>
              </a:rPr>
              <a:t>Unweighted: Rs 4,295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17920" y="219456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55080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15,500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6355080" y="2651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7BA6"/>
                </a:solidFill>
              </a:rPr>
              <a:t>90th percentile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355080" y="2880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866"/>
                </a:solidFill>
              </a:rPr>
              <a:t>10th percentile: Rs 1,000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17920" y="333756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55080" y="3383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15.50×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355080" y="3794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7BA6"/>
                </a:solidFill>
              </a:rPr>
              <a:t>p90 / p10 ratio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355080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866"/>
                </a:solidFill>
              </a:rPr>
              <a:t>1 student outside plot range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526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6"/>
                </a:solidFill>
              </a:rPr>
              <a:t>Source: PSLM 2019-20, students in Sindh rural (n = 1,440), weighted by hhweight.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makeover: points to conditional means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8896"/>
                </a:solidFill>
              </a:rPr>
              <a:t>Default (R, untouched)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960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</a:rPr>
              <a:t>Redesign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2450592"/>
          </a:xfrm>
          <a:prstGeom prst="rect">
            <a:avLst/>
          </a:prstGeom>
          <a:solidFill>
            <a:srgbClr val="F4F6F8"/>
          </a:solidFill>
          <a:ln w="12700">
            <a:solidFill>
              <a:srgbClr val="7A8896"/>
            </a:solidFill>
            <a:prstDash val="dash"/>
          </a:ln>
        </p:spPr>
      </p:sp>
      <p:pic>
        <p:nvPicPr>
          <p:cNvPr id="7" name="Image 0" descr="Weighted literacy rate by age band for women and men, with the largest gap marked at ages 30-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280160"/>
            <a:ext cx="4023360" cy="244693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Points → weighted means by band: a rate, not 7,171 stacked 0/1 dots.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Position on one 0-100 scale, with lines: the most accurate channel.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Direct labels, hollow-marker rule, one annotation: more data-ink.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EBFF554-3C13-6835-BF0B-4BCAD05DA4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7963" y="1234440"/>
            <a:ext cx="4072597" cy="2492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Women 28.0% vs men 59.5% literate at ages 15‑19</a:t>
            </a:r>
            <a:endParaRPr lang="en-US" sz="2600" dirty="0"/>
          </a:p>
        </p:txBody>
      </p:sp>
      <p:pic>
        <p:nvPicPr>
          <p:cNvPr id="3" name="Image 0" descr="Weighted literacy rate by age band for women and m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5394960" cy="328086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0" y="1051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28.0%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7498080" y="10515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66"/>
                </a:solidFill>
              </a:rPr>
              <a:t>women, ages 15-19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8288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59.5%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7498080" y="18288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66"/>
                </a:solidFill>
              </a:rPr>
              <a:t>men, ages 15-19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2606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42.5 pts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498080" y="2606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66"/>
                </a:solidFill>
              </a:rPr>
              <a:t>largest gap, ages 30‑34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34747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F2933"/>
                </a:solidFill>
              </a:rPr>
              <a:t>Cannot tell us: age vs cohort. A single cross-section cannot show whether literacy falls with age or older generations never gained it.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526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6"/>
                </a:solidFill>
              </a:rPr>
              <a:t>Source: PSLM 2019-20, persons aged 10-64 in Sindh rural (n = 7,171), weighted. No band has fewer than 30 observations.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CO346">
  <a:themeElements>
    <a:clrScheme name="ECO346">
      <a:dk1>
        <a:srgbClr val="1F2933"/>
      </a:dk1>
      <a:lt1>
        <a:srgbClr val="FFFFFF"/>
      </a:lt1>
      <a:dk2>
        <a:srgbClr val="16324F"/>
      </a:dk2>
      <a:lt2>
        <a:srgbClr val="EEF3F8"/>
      </a:lt2>
      <a:accent1>
        <a:srgbClr val="4A7BA6"/>
      </a:accent1>
      <a:accent2>
        <a:srgbClr val="C0392B"/>
      </a:accent2>
      <a:accent3>
        <a:srgbClr val="1B6CA8"/>
      </a:accent3>
      <a:accent4>
        <a:srgbClr val="7A8896"/>
      </a:accent4>
      <a:accent5>
        <a:srgbClr val="2C5F7C"/>
      </a:accent5>
      <a:accent6>
        <a:srgbClr val="B8860B"/>
      </a:accent6>
      <a:hlink>
        <a:srgbClr val="1B6CA8"/>
      </a:hlink>
      <a:folHlink>
        <a:srgbClr val="7A8896"/>
      </a:folHlink>
    </a:clrScheme>
    <a:fontScheme name="ECO346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402</Words>
  <Application>Microsoft Office PowerPoint</Application>
  <PresentationFormat>On-screen Show (16:9)</PresentationFormat>
  <Paragraphs>46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ECO346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ECO346 A1 FA24-BED-034</dc:title>
  <dc:subject>PptxGenJS Presentation</dc:subject>
  <dc:creator>PptxGenJS</dc:creator>
  <cp:lastModifiedBy>Ibrahim Khan</cp:lastModifiedBy>
  <cp:revision>3</cp:revision>
  <dcterms:created xsi:type="dcterms:W3CDTF">2026-10-26T12:34:40Z</dcterms:created>
  <dcterms:modified xsi:type="dcterms:W3CDTF">2026-10-26T22:29:04Z</dcterms:modified>
</cp:coreProperties>
</file>